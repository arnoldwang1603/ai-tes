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RR3M3ACwdN8L65XV+ubPNXuiB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A5BC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3A5BC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" y="1417320"/>
            <a:ext cx="2560320" cy="347472"/>
          </a:xfrm>
          <a:prstGeom prst="rect">
            <a:avLst/>
          </a:prstGeom>
          <a:solidFill>
            <a:srgbClr val="3A5BC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14173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THERMAL GRU ·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187452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Eliminating Cold-Start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60604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with InitStateEncoder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45643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A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E9AAF"/>
                </a:solidFill>
                <a:latin typeface="Calibri"/>
                <a:ea typeface="Calibri"/>
                <a:cs typeface="Calibri"/>
                <a:sym typeface="Calibri"/>
              </a:rPr>
              <a:t>From zero-initialised hidden state to physics-informed GRU initialisation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4828032"/>
            <a:ext cx="8823960" cy="54864"/>
          </a:xfrm>
          <a:prstGeom prst="rect">
            <a:avLst/>
          </a:prstGeom>
          <a:solidFill>
            <a:srgbClr val="3A5BC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8580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Thermal Prediction Research  ·  GRU Model Improvement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Problem: Cold-Start with Zero Initialisation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804672"/>
            <a:ext cx="3931920" cy="1188720"/>
          </a:xfrm>
          <a:prstGeom prst="rect">
            <a:avLst/>
          </a:prstGeom>
          <a:solidFill>
            <a:srgbClr val="1A1F35"/>
          </a:solidFill>
          <a:ln cap="flat" cmpd="sng" w="12700">
            <a:solidFill>
              <a:srgbClr val="1A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86868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init_hidden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(self, batch_size):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b="0" i="0" lang="en-US" sz="10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.zeros(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self.num_layers,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batch_size,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self.hidden_size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2029968"/>
            <a:ext cx="3931920" cy="329184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20040" y="202996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⚠  h₀ = all zeros — no physical knowledge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63440" y="1371600"/>
            <a:ext cx="4114800" cy="201168"/>
          </a:xfrm>
          <a:prstGeom prst="rect">
            <a:avLst/>
          </a:prstGeom>
          <a:solidFill>
            <a:srgbClr val="D0D8E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663440" y="1371600"/>
            <a:ext cx="1234440" cy="201168"/>
          </a:xfrm>
          <a:prstGeom prst="rect">
            <a:avLst/>
          </a:prstGeom>
          <a:solidFill>
            <a:srgbClr val="FFCDD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897880" y="1371600"/>
            <a:ext cx="2880360" cy="201168"/>
          </a:xfrm>
          <a:prstGeom prst="rect">
            <a:avLst/>
          </a:prstGeom>
          <a:solidFill>
            <a:srgbClr val="C8F7D5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617720" y="107899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 =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0" y="107899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 = 30s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29600" y="107899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 = 14400s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4663440" y="133502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2"/>
          <p:cNvCxnSpPr/>
          <p:nvPr/>
        </p:nvCxnSpPr>
        <p:spPr>
          <a:xfrm>
            <a:off x="5897880" y="133502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2"/>
          <p:cNvCxnSpPr/>
          <p:nvPr/>
        </p:nvCxnSpPr>
        <p:spPr>
          <a:xfrm>
            <a:off x="8778240" y="133502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4617720" y="1609344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Burn-in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(30 steps)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897880" y="16093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Reliable predictions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63440" y="2148840"/>
            <a:ext cx="2057400" cy="658368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663440" y="214884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No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for first 300s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03720" y="2148840"/>
            <a:ext cx="2057400" cy="658368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903720" y="2148840"/>
            <a:ext cx="2057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Real-time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requirement violated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" y="2971800"/>
            <a:ext cx="8503920" cy="1664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" y="2971800"/>
            <a:ext cx="64008" cy="16642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02920" y="3044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02920" y="33832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5BCC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4672" y="338328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GRU hidden state h₀ = zeros has no information about the physical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02920" y="371246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5BCC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04672" y="3712464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needs 30 timesteps of real input to 'warm up' the hidden state to a meaningful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02920" y="404164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B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5BCC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4672" y="404164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Predictions during warm-up are unreliable — violating the real-time feedback requirement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Solution: InitStateEncoder  —  Architecture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74320" y="960120"/>
            <a:ext cx="1828800" cy="150876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74320" y="9601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Initial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4048" y="1426464"/>
            <a:ext cx="1609344" cy="21945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84048" y="142646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T_outer (C)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677924"/>
            <a:ext cx="1609344" cy="21945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84048" y="167792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T_inner (C)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84048" y="1929384"/>
            <a:ext cx="1609344" cy="21945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84048" y="192938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T_avg  (C)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4048" y="2180844"/>
            <a:ext cx="1609344" cy="21945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84048" y="2180844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Input Temp (C)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2103120" y="1737360"/>
            <a:ext cx="731520" cy="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3"/>
          <p:cNvSpPr/>
          <p:nvPr/>
        </p:nvSpPr>
        <p:spPr>
          <a:xfrm>
            <a:off x="2103120" y="15819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 values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834640" y="960120"/>
            <a:ext cx="1920240" cy="150876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834640" y="960120"/>
            <a:ext cx="1920240" cy="3474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834640" y="9601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InitStateEncoder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944368" y="1371600"/>
            <a:ext cx="1700784" cy="201168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944368" y="1371600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Linear(4 → 256)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944368" y="1595628"/>
            <a:ext cx="1700784" cy="201168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944368" y="1595628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ReLU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944368" y="1819656"/>
            <a:ext cx="1700784" cy="201168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944368" y="1819656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Linear(256 → 256)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944368" y="2043684"/>
            <a:ext cx="1700784" cy="201168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944368" y="2043684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ReLU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944368" y="2267712"/>
            <a:ext cx="1700784" cy="201168"/>
          </a:xfrm>
          <a:prstGeom prst="rect">
            <a:avLst/>
          </a:prstGeom>
          <a:solidFill>
            <a:srgbClr val="FFE0B2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944368" y="2267712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Linear(256 → 640)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4754880" y="173736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3"/>
          <p:cNvSpPr/>
          <p:nvPr/>
        </p:nvSpPr>
        <p:spPr>
          <a:xfrm>
            <a:off x="4754880" y="158191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640-d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257800" y="1325880"/>
            <a:ext cx="1325880" cy="822960"/>
          </a:xfrm>
          <a:prstGeom prst="rect">
            <a:avLst/>
          </a:prstGeom>
          <a:solidFill>
            <a:srgbClr val="F3F0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257800" y="1325880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[5, B, 128]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583680" y="173736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" name="Google Shape;97;p3"/>
          <p:cNvSpPr/>
          <p:nvPr/>
        </p:nvSpPr>
        <p:spPr>
          <a:xfrm>
            <a:off x="6583680" y="15819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040880" y="960120"/>
            <a:ext cx="1828800" cy="15087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040880" y="960120"/>
            <a:ext cx="1828800" cy="347472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040880" y="9601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ThermalGRU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059168" y="137160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5 layers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059168" y="164592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hidden = 128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059168" y="192024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input  = </a:t>
            </a:r>
            <a:r>
              <a:rPr lang="en-US" sz="105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059168" y="219456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output =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7955280" y="2788920"/>
            <a:ext cx="0" cy="365760"/>
          </a:xfrm>
          <a:prstGeom prst="straightConnector1">
            <a:avLst/>
          </a:prstGeom>
          <a:noFill/>
          <a:ln cap="flat" cmpd="sng" w="31750">
            <a:solidFill>
              <a:srgbClr val="2DC6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3"/>
          <p:cNvSpPr/>
          <p:nvPr/>
        </p:nvSpPr>
        <p:spPr>
          <a:xfrm>
            <a:off x="7040880" y="3154680"/>
            <a:ext cx="1828800" cy="4114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040880" y="31546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T_inner / T_outer / T_avg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74320" y="3749040"/>
            <a:ext cx="8595360" cy="347472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74320" y="37490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B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A5BCC"/>
                </a:solidFill>
                <a:latin typeface="Calibri"/>
                <a:ea typeface="Calibri"/>
                <a:cs typeface="Calibri"/>
                <a:sym typeface="Calibri"/>
              </a:rPr>
              <a:t> InitStateEncoder + GRU are trained end-to-end via backpropagation — no separate pre-training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74320" y="4206240"/>
            <a:ext cx="85953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74320" y="4206240"/>
            <a:ext cx="64008" cy="8229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57200" y="42336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Code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57200" y="4526280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① init_hidden() now accepts x0 parameter and routes through InitStateEncoder instead of torch.zeros()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4700016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② Dataset stores init_conditions (t=0 values) and passes them through the DataLoader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4873752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③ Burn-in loop (30 steps) removed entirely from both training and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vs After: Data Flow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(Zero Init + Burn-in)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" y="1207008"/>
            <a:ext cx="4023360" cy="685800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74320" y="1207008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h₀ = torch.zeros(...)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2286000" y="1892808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4"/>
          <p:cNvSpPr/>
          <p:nvPr/>
        </p:nvSpPr>
        <p:spPr>
          <a:xfrm>
            <a:off x="274320" y="2048256"/>
            <a:ext cx="4023360" cy="685800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74320" y="20482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Burn-in: feed 30 real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(no loss computed)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286000" y="2734056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4"/>
          <p:cNvSpPr/>
          <p:nvPr/>
        </p:nvSpPr>
        <p:spPr>
          <a:xfrm>
            <a:off x="274320" y="2889504"/>
            <a:ext cx="4023360" cy="685800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74320" y="288950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Training starts at step 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(first 30 steps wasted)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2286000" y="3575304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4"/>
          <p:cNvSpPr/>
          <p:nvPr/>
        </p:nvSpPr>
        <p:spPr>
          <a:xfrm>
            <a:off x="274320" y="3730752"/>
            <a:ext cx="4023360" cy="685800"/>
          </a:xfrm>
          <a:prstGeom prst="rect">
            <a:avLst/>
          </a:prstGeom>
          <a:solidFill>
            <a:srgbClr val="FFE5E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74320" y="3730752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Inference: predict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from step 30 onwards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46320" y="749808"/>
            <a:ext cx="4023360" cy="384048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46320" y="74980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(InitStateEncoder)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46320" y="1207008"/>
            <a:ext cx="4023360" cy="6858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846320" y="1207008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x₀ = [T_outer, T_inner,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T_avg, Input_T]  at t=0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6858000" y="1892808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2DC6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4"/>
          <p:cNvSpPr/>
          <p:nvPr/>
        </p:nvSpPr>
        <p:spPr>
          <a:xfrm>
            <a:off x="4846320" y="2048256"/>
            <a:ext cx="4023360" cy="6858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846320" y="20482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InitStateEncoder(x₀)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→  meaningful h₀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6858000" y="2734056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2DC6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4"/>
          <p:cNvSpPr/>
          <p:nvPr/>
        </p:nvSpPr>
        <p:spPr>
          <a:xfrm>
            <a:off x="4846320" y="2889504"/>
            <a:ext cx="4023360" cy="6858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846320" y="288950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Training starts at step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(all 1440 steps used)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6858000" y="3575304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2DC6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4"/>
          <p:cNvSpPr/>
          <p:nvPr/>
        </p:nvSpPr>
        <p:spPr>
          <a:xfrm>
            <a:off x="4846320" y="3730752"/>
            <a:ext cx="4023360" cy="6858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846320" y="3730752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Inference: predict from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step 0 — no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4544568" y="749808"/>
            <a:ext cx="0" cy="4023360"/>
          </a:xfrm>
          <a:prstGeom prst="straightConnector1">
            <a:avLst/>
          </a:prstGeom>
          <a:noFill/>
          <a:ln cap="flat" cmpd="sng" w="19050">
            <a:solidFill>
              <a:srgbClr val="1E276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4315968" y="237744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It Works: Physical Intuition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74325" y="804675"/>
            <a:ext cx="2788800" cy="224040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74320" y="804672"/>
            <a:ext cx="2788920" cy="54864"/>
          </a:xfrm>
          <a:prstGeom prst="rect">
            <a:avLst/>
          </a:prstGeom>
          <a:solidFill>
            <a:srgbClr val="3A5BCC"/>
          </a:solidFill>
          <a:ln cap="flat" cmpd="sng" w="12700">
            <a:solidFill>
              <a:srgbClr val="3A5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84060" y="1152133"/>
            <a:ext cx="256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t=0 is fully observable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02349" y="1563613"/>
            <a:ext cx="2532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At the first timestep, all four temperatures are known real measurements — T_outer, T_inner, T_avg and Input Temperature. This is complete physical state information.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46125" y="804675"/>
            <a:ext cx="2788800" cy="22404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246120" y="804672"/>
            <a:ext cx="278892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355861" y="1152133"/>
            <a:ext cx="256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h₀ encodes physical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374149" y="1563613"/>
            <a:ext cx="2532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encoder learns which hidden-state values allow the GRU to best predict subsequent temperatures. It implicitly learns thermodynamic relationships without explicit equations.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217925" y="804675"/>
            <a:ext cx="2788800" cy="22404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217920" y="804672"/>
            <a:ext cx="2788920" cy="54864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327661" y="1152133"/>
            <a:ext cx="256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End-to-end gradient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345949" y="1563613"/>
            <a:ext cx="2532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Because encoder + GRU are jointly trained, the encoder receives gradients from every prediction step. It is directly optimised to minimise prediction error from t=0 onwards.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74325" y="3209674"/>
            <a:ext cx="8595300" cy="1700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80000" y="3364975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0000" y="3712447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Prediction quality from step 0 matches mid-sequence quality — no cold-start degradation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80000" y="4005055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30 extra training steps per sequence contribute to loss, improving overall model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0000" y="4297663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Real-time feedback requirement satisfied: users receive predictions immediately at system start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79975" y="459028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MAE T_inner: 1.6736 °C, Mean MAE T_outer: 1.9888 °C, Mean MAE T_avg:   1.9298 °C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2026-02-24T18:50:28Z</dcterms:created>
  <dc:creator>PptxGenJS</dc:creator>
</cp:coreProperties>
</file>